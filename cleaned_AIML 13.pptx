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Overpass Light" pitchFamily="2" charset="0"/>
      <p:regular r:id="rId13"/>
    </p:embeddedFont>
    <p:embeddedFont>
      <p:font typeface="Overpass" pitchFamily="2" charset="0"/>
      <p:regular r:id="rId14"/>
    </p:embeddedFont>
    <p:embeddedFont>
      <p:font typeface="Overpass Black" pitchFamily="2" charset="0"/>
      <p:regular r:id="rId15"/>
    </p:embeddedFont>
    <p:embeddedFont>
      <p:font typeface="Overpass Bold" pitchFamily="2" charset="0"/>
      <p:regular r:id="rId16"/>
    </p:embeddedFont>
    <p:embeddedFont>
      <p:font typeface="Overpass ExtraBold" pitchFamily="2" charset="0"/>
      <p:regular r:id="rId17"/>
    </p:embeddedFont>
    <p:embeddedFont>
      <p:font typeface="Overpass ExtraLight" pitchFamily="2" charset="0"/>
      <p:regular r:id="rId18"/>
    </p:embeddedFont>
    <p:embeddedFont>
      <p:font typeface="Overpass Medium" pitchFamily="2" charset="0"/>
      <p:regular r:id="rId19"/>
    </p:embeddedFont>
    <p:embeddedFont>
      <p:font typeface="Overpass SemiBold" pitchFamily="2" charset="0"/>
      <p:regular r:id="rId20"/>
    </p:embeddedFont>
    <p:embeddedFont>
      <p:font typeface="Overpass Thin" pitchFamily="2" charset="0"/>
      <p:regular r:id="rId21"/>
    </p:embeddedFont>
    <p:embeddedFont>
      <p:font typeface="Syne" pitchFamily="2" charset="0"/>
      <p:regular r:id="rId22"/>
    </p:embeddedFont>
    <p:embeddedFont>
      <p:font typeface="Syne Bold" pitchFamily="2" charset="0"/>
      <p:regular r:id="rId23"/>
    </p:embeddedFont>
    <p:embeddedFont>
      <p:font typeface="Syne ExtraBold" pitchFamily="2" charset="0"/>
      <p:regular r:id="rId24"/>
    </p:embeddedFont>
    <p:embeddedFont>
      <p:font typeface="Syne Medium" pitchFamily="2" charset="0"/>
      <p:regular r:id="rId25"/>
    </p:embeddedFont>
    <p:embeddedFont>
      <p:font typeface="Syne SemiBold" pitchFamily="2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font" Target="fonts/font9.fntdata"/><Relationship Id="rId22" Type="http://schemas.openxmlformats.org/officeDocument/2006/relationships/font" Target="fonts/font10.fntdata"/><Relationship Id="rId23" Type="http://schemas.openxmlformats.org/officeDocument/2006/relationships/font" Target="fonts/font11.fntdata"/><Relationship Id="rId24" Type="http://schemas.openxmlformats.org/officeDocument/2006/relationships/font" Target="fonts/font12.fntdata"/><Relationship Id="rId25" Type="http://schemas.openxmlformats.org/officeDocument/2006/relationships/font" Target="fonts/font13.fntdata"/><Relationship Id="rId26" Type="http://schemas.openxmlformats.org/officeDocument/2006/relationships/font" Target="fonts/font14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2EA33-827B-BA4D-A364-EC8403DB7FA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80743-2D53-0548-ACF6-4C4AE4E90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40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eg"/><Relationship Id="rId4" Type="http://schemas.openxmlformats.org/officeDocument/2006/relationships/image" Target="../media/image16.svg"/><Relationship Id="rId5" Type="http://schemas.openxmlformats.org/officeDocument/2006/relationships/image" Target="../media/image17.svg"/><Relationship Id="rId6" Type="http://schemas.openxmlformats.org/officeDocument/2006/relationships/image" Target="../media/image18.svg"/><Relationship Id="rId7" Type="http://schemas.openxmlformats.org/officeDocument/2006/relationships/image" Target="../media/image1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sv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86706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ML-Based Loan Approval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92826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machine learning framework that analyzes applicant financial and personal data to deliver fast, consistent, and data-driven lending decisions.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541365"/>
            <a:ext cx="1234008" cy="215354"/>
          </a:xfrm>
          <a:prstGeom prst="roundRect">
            <a:avLst>
              <a:gd name="adj" fmla="val 22119"/>
            </a:avLst>
          </a:prstGeom>
          <a:solidFill>
            <a:srgbClr val="DDEEE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81174" y="3583856"/>
            <a:ext cx="152109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ACADEMIC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00969" y="3541365"/>
            <a:ext cx="1226046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22443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886024" y="3583856"/>
            <a:ext cx="151313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097857" y="3541365"/>
            <a:ext cx="147682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224435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182913" y="3583856"/>
            <a:ext cx="176391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FINANCIAL TECHNOLOGY</a:t>
            </a:r>
            <a:endParaRPr lang="en-US" sz="8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C3BDEA-B1B0-C7F7-B129-B545C3458D47}"/>
              </a:ext>
            </a:extLst>
          </p:cNvPr>
          <p:cNvSpPr txBox="1"/>
          <p:nvPr/>
        </p:nvSpPr>
        <p:spPr>
          <a:xfrm>
            <a:off x="496119" y="3901556"/>
            <a:ext cx="4573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A.Uma</a:t>
            </a:r>
            <a:endParaRPr lang="en-US" dirty="0"/>
          </a:p>
          <a:p>
            <a:r>
              <a:rPr lang="en-US" dirty="0"/>
              <a:t>323129510002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3519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Challenge: Manual Loan Processing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496119" y="1293019"/>
            <a:ext cx="4722763" cy="829270"/>
          </a:xfrm>
          <a:prstGeom prst="roundRect">
            <a:avLst>
              <a:gd name="adj" fmla="val 5946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18232" y="1415132"/>
            <a:ext cx="44785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Delays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8232" y="1656829"/>
            <a:ext cx="44785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Manual reviews take days or weeks, frustrating applicants and slowing portfolio growth.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96119" y="2219474"/>
            <a:ext cx="4722763" cy="657597"/>
          </a:xfrm>
          <a:prstGeom prst="roundRect">
            <a:avLst>
              <a:gd name="adj" fmla="val 7498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8232" y="2341587"/>
            <a:ext cx="44785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Inconsistency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8232" y="2583284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Human judgment varies by officer, branch, and time — producing unequal outcomes.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6119" y="2974256"/>
            <a:ext cx="4722763" cy="829270"/>
          </a:xfrm>
          <a:prstGeom prst="roundRect">
            <a:avLst>
              <a:gd name="adj" fmla="val 5946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18232" y="3096369"/>
            <a:ext cx="44785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Errors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8232" y="3338066"/>
            <a:ext cx="44785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Data-entry mistakes and overlooked signals increase default risk and compliance exposure.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6119" y="3900711"/>
            <a:ext cx="4722763" cy="829270"/>
          </a:xfrm>
          <a:prstGeom prst="roundRect">
            <a:avLst>
              <a:gd name="adj" fmla="val 5946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8232" y="4022824"/>
            <a:ext cx="44785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Poor Scalability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18232" y="4264521"/>
            <a:ext cx="44785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Traditional methods cannot handle high-volume application surges without major staffing costs.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 &amp; Workflow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186251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End-to-End Data Flow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014389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system operates as a closed-loop pipeline from submission to decision: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295" y="2148855"/>
            <a:ext cx="109612" cy="1096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03440" y="2145283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Applicant submits data via secure portal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295" y="2447106"/>
            <a:ext cx="109612" cy="1096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03440" y="2443535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Backend validates and preprocesses input</a:t>
            </a:r>
            <a:endParaRPr lang="en-US" sz="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295" y="2745358"/>
            <a:ext cx="109612" cy="1096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03440" y="2741786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ML engine generates approval probability</a:t>
            </a:r>
            <a:endParaRPr lang="en-US" sz="5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295" y="3043610"/>
            <a:ext cx="109612" cy="10961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03440" y="3040038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Officer reviews recommendation and decides</a:t>
            </a:r>
            <a:endParaRPr lang="en-US" sz="5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295" y="3341861"/>
            <a:ext cx="109612" cy="10961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903440" y="3338289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Decision stored; applicant notified instantly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92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 &amp; Feature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36713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Core Input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339057"/>
            <a:ext cx="2656433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model uses structured applicant data drawn from credit bureaus, application forms, and institutional records.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59882" y="1087710"/>
            <a:ext cx="51926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Preprocessing Pipeline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882" y="1403598"/>
            <a:ext cx="5192688" cy="19485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55522" y="2803668"/>
            <a:ext cx="783211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Train-Test Split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68461" y="2803668"/>
            <a:ext cx="783211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 Selection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686765" y="2879106"/>
            <a:ext cx="783211" cy="15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Scaling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05068" y="2879106"/>
            <a:ext cx="783211" cy="15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01914" y="2803668"/>
            <a:ext cx="783211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59882" y="3474169"/>
            <a:ext cx="519268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Stratified splitting preserves class balance; correlation matrices and VIF scores eliminate multicollinearity before training.</a:t>
            </a:r>
            <a:endParaRPr lang="en-US" sz="9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065910"/>
            <a:ext cx="2644899" cy="6485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1530" y="4204171"/>
            <a:ext cx="231122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Financial:</a:t>
            </a: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Applicant income, co-applicant income, loan amount, loan term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9513" y="4065910"/>
            <a:ext cx="2644899" cy="6485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44925" y="4204171"/>
            <a:ext cx="231122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Credit:</a:t>
            </a: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Credit history (0/1), existing liabilities, repayment capacity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2908" y="4065910"/>
            <a:ext cx="2644899" cy="6485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98319" y="4204171"/>
            <a:ext cx="231122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Personal:</a:t>
            </a: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Education, employment status, marital status, dependents, property area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Machine Learning Pipeline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9012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160861"/>
            <a:ext cx="1190146" cy="68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Hyperparameter Tuning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Raw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Five classifiers are trained and compared. </a:t>
            </a:r>
            <a:r>
              <a:rPr lang="en-US" sz="11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Random Forest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r>
              <a:rPr lang="en-US" sz="11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XGBoost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consistently outperform linear models on imbalanced lending data, with ensemble methods reducing variance and capturing non-linear feature interactions.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 Evaluation &amp; Comparison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Performance Highlights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XGBoost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achieves the highest accuracy (90%) and F1 score (89%), making it the recommended production model. Random Forest is a strong alternative with better interpretability.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907060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DDEEE6"/>
          </a:solidFill>
          <a:ln/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10782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070027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Confusion Matrix (XGBoost):</a:t>
            </a:r>
            <a:r>
              <a:rPr lang="en-US" sz="11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TP=142, TN=98, FP=12, FN=8 — indicating low false-negative rate, critical for minimizing credit risk.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 Importance Analysis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Drives the Decision?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715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Credit history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dominates at 38% — a strong binary signal of past repayment behavior. </a:t>
            </a:r>
            <a:r>
              <a:rPr lang="en-US" sz="11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Applicant income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</a:t>
            </a:r>
            <a:r>
              <a:rPr lang="en-US" sz="11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loan amount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jointly determine debt-to-income ratio, the second most critical risk factor.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Lower-ranked features (education, marital status, dependents) provide contextual nuance but rarely override credit and income signals in the final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1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Roles &amp; System Modules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Applicant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Submits applications, uploads documents, tracks real-time status, and receives automated approval or rejection notifications.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Bank Officer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01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Validates submissions, reviews ML risk scores, overrides decisions when needed, and manages the approval queue.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773659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Manages users and permissions, monitors system health, generates compliance reports, and retrains models with new data.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2878"/>
            <a:ext cx="4722763" cy="567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Security, Database &amp; Technology Stack</a:t>
            </a:r>
            <a:endParaRPr lang="en-US" sz="1750" dirty="0"/>
          </a:p>
        </p:txBody>
      </p:sp>
      <p:sp>
        <p:nvSpPr>
          <p:cNvPr id="4" name="Shape 1"/>
          <p:cNvSpPr/>
          <p:nvPr/>
        </p:nvSpPr>
        <p:spPr>
          <a:xfrm>
            <a:off x="3925119" y="1057573"/>
            <a:ext cx="4722763" cy="817587"/>
          </a:xfrm>
          <a:prstGeom prst="roundRect">
            <a:avLst>
              <a:gd name="adj" fmla="val 4665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020666" y="1153120"/>
            <a:ext cx="272430" cy="272430"/>
          </a:xfrm>
          <a:prstGeom prst="ellipse">
            <a:avLst/>
          </a:prstGeom>
          <a:solidFill>
            <a:srgbClr val="224435"/>
          </a:solidFill>
          <a:ln/>
        </p:spPr>
        <p:txBody>
          <a:bodyPr/>
          <a:p/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5601" y="1228055"/>
            <a:ext cx="122560" cy="122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0666" y="1483668"/>
            <a:ext cx="45316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020666" y="1660475"/>
            <a:ext cx="4531668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JWT-based sessions with role-based access control (RBAC); bcrypt password hashing; optional 2FA for officers.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3925119" y="1933277"/>
            <a:ext cx="4722763" cy="936724"/>
          </a:xfrm>
          <a:prstGeom prst="roundRect">
            <a:avLst>
              <a:gd name="adj" fmla="val 4072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4020666" y="2028825"/>
            <a:ext cx="272430" cy="272430"/>
          </a:xfrm>
          <a:prstGeom prst="ellipse">
            <a:avLst/>
          </a:prstGeom>
          <a:solidFill>
            <a:srgbClr val="224435"/>
          </a:solidFill>
          <a:ln/>
        </p:spPr>
        <p:txBody>
          <a:bodyPr/>
          <a:p/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5601" y="2103760"/>
            <a:ext cx="122560" cy="1225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20666" y="2359372"/>
            <a:ext cx="45316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Database Design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4020666" y="2536180"/>
            <a:ext cx="4531668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PostgreSQL with normalized schema: </a:t>
            </a:r>
            <a:r>
              <a:rPr lang="en-US" sz="70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users</a:t>
            </a: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</a:t>
            </a:r>
            <a:r>
              <a:rPr lang="en-US" sz="70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applications</a:t>
            </a: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</a:t>
            </a:r>
            <a:r>
              <a:rPr lang="en-US" sz="70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predictions</a:t>
            </a: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</a:t>
            </a:r>
            <a:r>
              <a:rPr lang="en-US" sz="70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documents</a:t>
            </a: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</a:t>
            </a:r>
            <a:r>
              <a:rPr lang="en-US" sz="700" i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audit_logs</a:t>
            </a: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. Encrypted at rest via AES-256.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3925119" y="2928119"/>
            <a:ext cx="4722763" cy="936724"/>
          </a:xfrm>
          <a:prstGeom prst="roundRect">
            <a:avLst>
              <a:gd name="adj" fmla="val 4072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4020666" y="3023667"/>
            <a:ext cx="272430" cy="272430"/>
          </a:xfrm>
          <a:prstGeom prst="ellipse">
            <a:avLst/>
          </a:prstGeom>
          <a:solidFill>
            <a:srgbClr val="224435"/>
          </a:solidFill>
          <a:ln/>
        </p:spPr>
        <p:txBody>
          <a:bodyPr/>
          <a:p/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5601" y="3098602"/>
            <a:ext cx="122560" cy="1225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20666" y="3354214"/>
            <a:ext cx="45316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4020666" y="3531022"/>
            <a:ext cx="4531668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Python (scikit-learn, XGBoost, pandas), Flask/FastAPI backend, React frontend, PostgreSQL, Docker for deployment.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3925119" y="3922961"/>
            <a:ext cx="4722763" cy="817587"/>
          </a:xfrm>
          <a:prstGeom prst="roundRect">
            <a:avLst>
              <a:gd name="adj" fmla="val 4665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4020666" y="4018508"/>
            <a:ext cx="272430" cy="272430"/>
          </a:xfrm>
          <a:prstGeom prst="ellipse">
            <a:avLst/>
          </a:prstGeom>
          <a:solidFill>
            <a:srgbClr val="224435"/>
          </a:solidFill>
          <a:ln/>
        </p:spPr>
        <p:txBody>
          <a:bodyPr/>
          <a:p/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5601" y="4093443"/>
            <a:ext cx="122560" cy="1225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20666" y="4349055"/>
            <a:ext cx="45316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Analytics Dashboard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4020666" y="4525863"/>
            <a:ext cx="4531668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Real-time approval rates, default risk trends, feature drift monitoring, and exportable PDF compliance reports.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789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Outcomes, Limitations &amp; Future Directions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307381"/>
            <a:ext cx="3905696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Expected Advantages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684660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7440" y="1729978"/>
            <a:ext cx="34543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Speed:</a:t>
            </a: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Decisions in seconds vs. days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6119" y="2273350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47440" y="2318668"/>
            <a:ext cx="34543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Consistency:</a:t>
            </a: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Uniform criteria across all applications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6119" y="2862039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47440" y="2907357"/>
            <a:ext cx="34543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Scalability:</a:t>
            </a: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Handles thousands of applications without added staff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6119" y="3625007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47440" y="3670325"/>
            <a:ext cx="34543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Risk Reduction:</a:t>
            </a: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Lower default rates through data-driven scoring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46947" y="1307381"/>
            <a:ext cx="3905696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Limitations &amp; Roadmap</a:t>
            </a:r>
            <a:endParaRPr lang="en-US" sz="13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6947" y="1684660"/>
            <a:ext cx="3905696" cy="7600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981724" y="1843236"/>
            <a:ext cx="351234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Current Limits:</a:t>
            </a: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Model bias risk, cold-start for new applicant profiles, dependency on data quality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6947" y="2582094"/>
            <a:ext cx="3905696" cy="9815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81724" y="2740670"/>
            <a:ext cx="351234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Future Enhancements:</a:t>
            </a: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Deep learning (LSTM for time-series credit behavior), explainable AI (SHAP/LIME), real-time credit bureau API integration, mobile-first UX</a:t>
            </a:r>
            <a:endParaRPr lang="en-US" sz="10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6947" y="3700983"/>
            <a:ext cx="3905696" cy="7600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1724" y="3859560"/>
            <a:ext cx="351234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Real-World Fit:</a:t>
            </a: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Deployable in commercial banks, credit unions, fintech lenders, and microfinance institutions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Narapinni Lalitha</cp:lastModifiedBy>
  <cp:revision>4</cp:revision>
  <dcterms:created xsi:type="dcterms:W3CDTF">2026-07-28T05:15:19Z</dcterms:created>
  <dcterms:modified xsi:type="dcterms:W3CDTF">2026-09-29T15:11:33Z</dcterms:modified>
</cp:coreProperties>
</file>